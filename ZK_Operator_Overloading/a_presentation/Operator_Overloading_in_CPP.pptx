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Operator Overloading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2E1F5"/>
                </a:solidFill>
              </a:defRPr>
            </a:pPr>
            <a:r>
              <a:t>Understanding Unary, Binary, Member &amp; Friend Function Approaches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What is Operator Overloading?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Operator overloading is a feature of C++ that gives special meaning to an existing operator when used with objects.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It does not create a new operator.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It changes the meaning or behavior of an existing operator for user-defined types such as classes.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Example: we can make + perform addition-like operations on two objects.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Why Do We Need Operator Overloading?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1828800"/>
          </a:xfrm>
          <a:prstGeom prst="roundRect">
            <a:avLst/>
          </a:prstGeom>
          <a:solidFill>
            <a:srgbClr val="1E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6634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Consolas"/>
              </a:defRPr>
            </a:pPr>
            <a:r>
              <a:t>int a = 10, b = 20;</a:t>
            </a:r>
            <a:br/>
            <a:r>
              <a:t>int c = a + b;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1828800"/>
          </a:xfrm>
          <a:prstGeom prst="roundRect">
            <a:avLst/>
          </a:prstGeom>
          <a:solidFill>
            <a:srgbClr val="1E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508760"/>
            <a:ext cx="4572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Consolas"/>
              </a:defRPr>
            </a:pPr>
            <a:r>
              <a:t>obj3 = obj1 + obj2;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Normal use: + adds two numeric values.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With operator overloading: + can be defined to perform a meaningful operation on class objects.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Syntax remains natural and easy to 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Types of Operator Overloading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7548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011680"/>
            <a:ext cx="4114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3769B4"/>
                </a:solidFill>
              </a:defRPr>
            </a:pPr>
            <a:r>
              <a:t>Unary</a:t>
            </a:r>
          </a:p>
          <a:p>
            <a:pPr algn="ctr">
              <a:defRPr sz="1900">
                <a:solidFill>
                  <a:srgbClr val="232323"/>
                </a:solidFill>
              </a:defRPr>
            </a:pPr>
            <a:r>
              <a:t>Works with ONE operand</a:t>
            </a:r>
            <a:br/>
            <a:r>
              <a:t>Examples: ++, --, -, 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47548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32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2011680"/>
            <a:ext cx="4114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32825A"/>
                </a:solidFill>
              </a:defRPr>
            </a:pPr>
            <a:r>
              <a:t>Binary</a:t>
            </a:r>
          </a:p>
          <a:p>
            <a:pPr algn="ctr">
              <a:defRPr sz="1900">
                <a:solidFill>
                  <a:srgbClr val="232323"/>
                </a:solidFill>
              </a:defRPr>
            </a:pPr>
            <a:r>
              <a:t>Works with TWO operands</a:t>
            </a:r>
            <a:br/>
            <a:r>
              <a:t>Examples: +, -, *, /, ==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Ways to Implement Operator Overloading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Member function — the overloaded operator is defined inside the class.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Friend / non-member function — the operator is defined outside the class; a friend function can access private members.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Both approaches can be used depending on the operator and the design of the class.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840480"/>
            <a:ext cx="4937760" cy="1828800"/>
          </a:xfrm>
          <a:prstGeom prst="roundRect">
            <a:avLst/>
          </a:prstGeom>
          <a:solidFill>
            <a:srgbClr val="1E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977640"/>
            <a:ext cx="44805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class Number {</a:t>
            </a:r>
            <a:br/>
            <a:r>
              <a:t>public:</a:t>
            </a:r>
            <a:br/>
            <a:r>
              <a:t>    Number operator+(Number n);</a:t>
            </a:r>
            <a:br/>
            <a:r>
              <a:t>};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1828800"/>
          </a:xfrm>
          <a:prstGeom prst="roundRect">
            <a:avLst/>
          </a:prstGeom>
          <a:solidFill>
            <a:srgbClr val="1E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3977640"/>
            <a:ext cx="46634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friend Number operator+(Number a, Number b);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Unary Operator Overloading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 unary operator works with one operand (one object/value).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Common examples: ++, --, -, !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Example: ++n can be overloaded to increase the value stored inside an object.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3840480" cy="1645920"/>
          </a:xfrm>
          <a:prstGeom prst="roundRect">
            <a:avLst/>
          </a:prstGeom>
          <a:solidFill>
            <a:srgbClr val="1E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8620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Consolas"/>
              </a:defRPr>
            </a:pPr>
            <a:r>
              <a:t>++obj;</a:t>
            </a:r>
            <a:br/>
            <a:r>
              <a:t>--obj;</a:t>
            </a:r>
            <a:br/>
            <a:r>
              <a:t>-obj;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3383280"/>
            <a:ext cx="5669280" cy="2286000"/>
          </a:xfrm>
          <a:prstGeom prst="roundRect">
            <a:avLst/>
          </a:prstGeom>
          <a:solidFill>
            <a:srgbClr val="1E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3520440"/>
            <a:ext cx="5212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void operator++()</a:t>
            </a:r>
            <a:br/>
            <a:r>
              <a:t>{</a:t>
            </a:r>
            <a:br/>
            <a:r>
              <a:t>    ++value;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Binary Operator Overloading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 binary operator works with two operands.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Common examples: +, -, *, /, %, ==, &lt;, &gt;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Example: n3 = n1 + n2 can add the values stored in two Number objects.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4572000" cy="1463040"/>
          </a:xfrm>
          <a:prstGeom prst="roundRect">
            <a:avLst/>
          </a:prstGeom>
          <a:solidFill>
            <a:srgbClr val="1E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86200"/>
            <a:ext cx="4114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Consolas"/>
              </a:defRPr>
            </a:pPr>
            <a:r>
              <a:t>Number n3 = n1 + n2;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3291840"/>
            <a:ext cx="5212080" cy="2377440"/>
          </a:xfrm>
          <a:prstGeom prst="roundRect">
            <a:avLst/>
          </a:prstGeom>
          <a:solidFill>
            <a:srgbClr val="1E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3429000"/>
            <a:ext cx="47548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Number operator+(Number n)</a:t>
            </a:r>
            <a:br/>
            <a:r>
              <a:t>{</a:t>
            </a:r>
            <a:br/>
            <a:r>
              <a:t>    return Number(value + n.value);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Complete Example: Overloading +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5074920"/>
          </a:xfrm>
          <a:prstGeom prst="roundRect">
            <a:avLst/>
          </a:prstGeom>
          <a:solidFill>
            <a:srgbClr val="1E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4800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#include &lt;iostream&gt;</a:t>
            </a:r>
            <a:br/>
            <a:r>
              <a:t>using namespace std;</a:t>
            </a:r>
            <a:br/>
            <a:br/>
            <a:r>
              <a:t>class Number {</a:t>
            </a:r>
            <a:br/>
            <a:r>
              <a:t>    int value;</a:t>
            </a:r>
            <a:br/>
            <a:r>
              <a:t>public:</a:t>
            </a:r>
            <a:br/>
            <a:r>
              <a:t>    Number(int v) { value = v; }</a:t>
            </a:r>
            <a:br/>
            <a:br/>
            <a:r>
              <a:t>    Number operator+(Number n) {</a:t>
            </a:r>
            <a:br/>
            <a:r>
              <a:t>        return Number(value + n.value);</a:t>
            </a:r>
            <a:br/>
            <a:r>
              <a:t>    }</a:t>
            </a:r>
            <a:br/>
            <a:br/>
            <a:r>
              <a:t>    void display() { cout &lt;&lt; "Value = " &lt;&lt; value; }</a:t>
            </a:r>
            <a:br/>
            <a:r>
              <a:t>};</a:t>
            </a:r>
            <a:br/>
            <a:br/>
            <a:r>
              <a:t>int main() {</a:t>
            </a:r>
            <a:br/>
            <a:r>
              <a:t>    Number n1(10), n2(20);</a:t>
            </a:r>
            <a:br/>
            <a:r>
              <a:t>    Number n3 = n1 + n2;</a:t>
            </a:r>
            <a:br/>
            <a:r>
              <a:t>    n3.display();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Operator Overloading Using Friend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A friend function is declared inside the class but defined outside it.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It can access private members of the class.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It is a non-member function, so both operands are passed as parameters.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5486400" cy="2011680"/>
          </a:xfrm>
          <a:prstGeom prst="roundRect">
            <a:avLst/>
          </a:prstGeom>
          <a:solidFill>
            <a:srgbClr val="1E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703320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class Number {</a:t>
            </a:r>
            <a:br/>
            <a:r>
              <a:t>    int x;</a:t>
            </a:r>
            <a:br/>
            <a:r>
              <a:t>public:</a:t>
            </a:r>
            <a:br/>
            <a:r>
              <a:t>    friend Number operator+(Number a, Number b);</a:t>
            </a:r>
            <a:br/>
            <a:r>
              <a:t>};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566160"/>
            <a:ext cx="4937760" cy="2011680"/>
          </a:xfrm>
          <a:prstGeom prst="roundRect">
            <a:avLst/>
          </a:prstGeom>
          <a:solidFill>
            <a:srgbClr val="1E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3703320"/>
            <a:ext cx="44805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Number operator+(Number a, Number b)</a:t>
            </a:r>
            <a:br/>
            <a:r>
              <a:t>{</a:t>
            </a:r>
            <a:br/>
            <a:r>
              <a:t>    return Number(a.x + b.x);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Common Operators That Can Be Overloaded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223760"/>
              </a:tblGrid>
              <a:tr h="617220"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Operators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Arithmetic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+  -  *  /  %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Relational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==  !=  &lt;  &gt;  &lt;=  &gt;=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Unary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++  --  -  !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=  +=  -=  *=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Bitwise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&amp;  |  ^  &lt;&lt;  &gt;&gt;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Subscript /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[]   ()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Pointer/member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-&gt;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Operators That Cannot Be Overloaded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234440"/>
          <a:ext cx="97840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040"/>
                <a:gridCol w="4892040"/>
              </a:tblGrid>
              <a:tr h="617220"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Operator</a:t>
                      </a:r>
                    </a:p>
                  </a:txBody>
                  <a:tcPr>
                    <a:solidFill>
                      <a:srgbClr val="B441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B44141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::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Scope resolution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Direct member access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.*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Pointer-to-member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?: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Conditional operator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sizeof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Size of object/type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typeid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Type information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alignof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t>Alignment requirement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Easy Way to Remember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023360"/>
          </a:xfrm>
          <a:prstGeom prst="roundRect">
            <a:avLst/>
          </a:prstGeom>
          <a:solidFill>
            <a:srgbClr val="1E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2976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Consolas"/>
              </a:defRPr>
            </a:pPr>
            <a:r>
              <a:t>UNARY</a:t>
            </a:r>
            <a:br/>
            <a:r>
              <a:t>One operand</a:t>
            </a:r>
            <a:br/>
            <a:br/>
            <a:r>
              <a:t>++obj;</a:t>
            </a:r>
            <a:br/>
            <a:r>
              <a:t>--obj;</a:t>
            </a:r>
            <a:br/>
            <a:r>
              <a:t>-obj;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4754880" cy="4023360"/>
          </a:xfrm>
          <a:prstGeom prst="roundRect">
            <a:avLst/>
          </a:prstGeom>
          <a:solidFill>
            <a:srgbClr val="1E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508760"/>
            <a:ext cx="42976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Consolas"/>
              </a:defRPr>
            </a:pPr>
            <a:r>
              <a:t>BINARY</a:t>
            </a:r>
            <a:br/>
            <a:r>
              <a:t>Two operands</a:t>
            </a:r>
            <a:br/>
            <a:br/>
            <a:r>
              <a:t>obj1 + obj2;</a:t>
            </a:r>
            <a:br/>
            <a:r>
              <a:t>obj1 - obj2;</a:t>
            </a:r>
            <a:br/>
            <a:r>
              <a:t>obj1 == obj2;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Operator Overloading —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143000"/>
            <a:ext cx="37490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79392" y="1216152"/>
            <a:ext cx="3602735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D4B"/>
                </a:solidFill>
              </a:defRPr>
            </a:pPr>
            <a:r>
              <a:t>Operator Overloading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200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16352"/>
            <a:ext cx="3054096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3769B4"/>
                </a:solidFill>
              </a:defRPr>
            </a:pPr>
            <a:r>
              <a:t>Unary</a:t>
            </a:r>
            <a:br/>
            <a:r>
              <a:t>(1 operand)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743200"/>
            <a:ext cx="3200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2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2816352"/>
            <a:ext cx="3054096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32825A"/>
                </a:solidFill>
              </a:defRPr>
            </a:pPr>
            <a:r>
              <a:t>Binary</a:t>
            </a:r>
            <a:br/>
            <a:r>
              <a:t>(2 operands)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3200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645152"/>
            <a:ext cx="3054096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3769B4"/>
                </a:solidFill>
              </a:defRPr>
            </a:pPr>
            <a:r>
              <a:t>++, --, -, 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572000"/>
            <a:ext cx="3200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2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4645152"/>
            <a:ext cx="3054096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32825A"/>
                </a:solidFill>
              </a:defRPr>
            </a:pPr>
            <a:r>
              <a:t>+, -, *, /, ==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514600" y="2057400"/>
            <a:ext cx="3566160" cy="685800"/>
          </a:xfrm>
          <a:prstGeom prst="line">
            <a:avLst/>
          </a:prstGeom>
          <a:ln w="25400">
            <a:solidFill>
              <a:srgbClr val="64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60" y="2057400"/>
            <a:ext cx="3566160" cy="685800"/>
          </a:xfrm>
          <a:prstGeom prst="line">
            <a:avLst/>
          </a:prstGeom>
          <a:ln w="25400">
            <a:solidFill>
              <a:srgbClr val="64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14600" y="3749039"/>
            <a:ext cx="0" cy="822961"/>
          </a:xfrm>
          <a:prstGeom prst="line">
            <a:avLst/>
          </a:prstGeom>
          <a:ln w="25400">
            <a:solidFill>
              <a:srgbClr val="64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46920" y="3749039"/>
            <a:ext cx="0" cy="822961"/>
          </a:xfrm>
          <a:prstGeom prst="line">
            <a:avLst/>
          </a:prstGeom>
          <a:ln w="25400">
            <a:solidFill>
              <a:srgbClr val="64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49039" y="470916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32323"/>
                </a:solidFill>
              </a:defRPr>
            </a:pPr>
            <a:r>
              <a:t>Can use member or friend/non-member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Operator overloading gives existing operators special behavior for objects.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Unary operators work with one operand; binary operators work with two.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Operators can be overloaded using member functions or friend/non-member functions.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Operator overloading improves readability and makes object operations feel natural.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Not every C++ operator can be overloaded.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2E1F5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